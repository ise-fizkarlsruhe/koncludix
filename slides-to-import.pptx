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7" r:id="rId2"/>
    <p:sldId id="371" r:id="rId3"/>
    <p:sldId id="349" r:id="rId4"/>
    <p:sldId id="350" r:id="rId5"/>
    <p:sldId id="351" r:id="rId6"/>
    <p:sldId id="372" r:id="rId7"/>
    <p:sldId id="353" r:id="rId8"/>
    <p:sldId id="373" r:id="rId9"/>
    <p:sldId id="355" r:id="rId10"/>
    <p:sldId id="370" r:id="rId11"/>
    <p:sldId id="357" r:id="rId12"/>
    <p:sldId id="358" r:id="rId13"/>
    <p:sldId id="374" r:id="rId14"/>
    <p:sldId id="375" r:id="rId15"/>
    <p:sldId id="376" r:id="rId16"/>
    <p:sldId id="362" r:id="rId17"/>
    <p:sldId id="363" r:id="rId18"/>
    <p:sldId id="364" r:id="rId19"/>
    <p:sldId id="377" r:id="rId20"/>
    <p:sldId id="379" r:id="rId21"/>
    <p:sldId id="367" r:id="rId22"/>
    <p:sldId id="36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92" y="4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/>
            </a:pPr>
            <a:r>
              <a:rPr lang="en-US"/>
              <a:t>Time on OWL2Bench DL-1 (seconds)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1F5F9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Types only</c:v>
                </c:pt>
                <c:pt idx="1">
                  <c:v>No facts between
individuals</c:v>
                </c:pt>
                <c:pt idx="2">
                  <c:v>Everything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80</c:v>
                </c:pt>
                <c:pt idx="2">
                  <c:v>158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6C6-463A-8BB1-0492ED0E90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/>
            </a:pPr>
            <a:r>
              <a:rPr lang="en-IN"/>
              <a:t>Time now (seconds)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2E7D3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DL-1</c:v>
                </c:pt>
                <c:pt idx="1">
                  <c:v>DL-2</c:v>
                </c:pt>
                <c:pt idx="2">
                  <c:v>DL-5</c:v>
                </c:pt>
                <c:pt idx="3">
                  <c:v>DL-10</c:v>
                </c:pt>
                <c:pt idx="4">
                  <c:v>DL-20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26</c:v>
                </c:pt>
                <c:pt idx="2">
                  <c:v>31</c:v>
                </c:pt>
                <c:pt idx="3">
                  <c:v>80</c:v>
                </c:pt>
                <c:pt idx="4">
                  <c:v>169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D3D-4C95-9929-C5C9A4B306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848771-4D9C-BDA8-984F-F3FC816DBCE7}"/>
              </a:ext>
            </a:extLst>
          </p:cNvPr>
          <p:cNvSpPr txBox="1"/>
          <p:nvPr/>
        </p:nvSpPr>
        <p:spPr>
          <a:xfrm>
            <a:off x="3048512" y="1409083"/>
            <a:ext cx="6097022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36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Koncludix</a:t>
            </a:r>
            <a:endParaRPr lang="en-US"/>
          </a:p>
          <a:p>
            <a:pPr algn="ctr">
              <a:spcBef>
                <a:spcPts val="700"/>
              </a:spcBef>
              <a:defRPr sz="2000" b="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Making expressive OWL 2 DL reasoning practical</a:t>
            </a:r>
            <a:endParaRPr lang="en-US"/>
          </a:p>
          <a:p>
            <a:pPr algn="ctr">
              <a:spcBef>
                <a:spcPts val="1200"/>
              </a:spcBef>
              <a:defRPr sz="1400" b="0">
                <a:solidFill>
                  <a:srgbClr val="666666"/>
                </a:solidFill>
                <a:latin typeface="Arial"/>
              </a:defRPr>
            </a:pPr>
            <a:r>
              <a:rPr lang="en-US" dirty="0"/>
              <a:t>Research meeting · 13 October 2026</a:t>
            </a:r>
            <a:endParaRPr lang="en-US"/>
          </a:p>
          <a:p>
            <a:pPr algn="ctr">
              <a:spcBef>
                <a:spcPts val="200"/>
              </a:spcBef>
              <a:defRPr sz="1400" b="0">
                <a:solidFill>
                  <a:srgbClr val="666666"/>
                </a:solidFill>
                <a:latin typeface="Arial"/>
              </a:defRPr>
            </a:pPr>
            <a:r>
              <a:rPr lang="en-US" dirty="0"/>
              <a:t>Gunjan Singh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38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Why we changed direction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675120" cy="4501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Initial idea: use language models and embeddings to guide tableau search.</a:t>
            </a:r>
            <a:endParaRPr lang="en-US"/>
          </a:p>
          <a:p>
            <a:pPr>
              <a:spcBef>
                <a:spcPts val="550"/>
              </a:spcBef>
              <a:defRPr sz="17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Result: no measurable gain beyond noise on GALEN and 20 hard generated ontologies.</a:t>
            </a:r>
            <a:endParaRPr lang="en-US"/>
          </a:p>
          <a:p>
            <a:pPr>
              <a:spcBef>
                <a:spcPts val="550"/>
              </a:spcBef>
              <a:defRPr sz="17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CTO already produced very few wrong guesses: 25 clashes in 650,000 decisions.</a:t>
            </a:r>
            <a:endParaRPr lang="en-US"/>
          </a:p>
          <a:p>
            <a:pPr>
              <a:spcBef>
                <a:spcPts val="550"/>
              </a:spcBef>
              <a:defRPr sz="17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The real costs were elsewhere: missing inferred facts, hangs, memory use, and no explanations.</a:t>
            </a:r>
            <a:endParaRPr lang="en-US"/>
          </a:p>
          <a:p>
            <a:pPr>
              <a:spcBef>
                <a:spcPts val="550"/>
              </a:spcBef>
              <a:defRPr sz="17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Decision: improve Konclude itself for expressive OWL 2 DL TBoxes and large ABoxes.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589520" y="1280160"/>
            <a:ext cx="4023360" cy="1188720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Bef>
                <a:spcPts val="0"/>
              </a:spcBef>
              <a:defRPr sz="1700" b="1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Search guidance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No gain beyond noise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GALEN + 20 generated ontologies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589520" y="2697480"/>
            <a:ext cx="4023360" cy="1188720"/>
          </a:xfrm>
          <a:prstGeom prst="rect">
            <a:avLst/>
          </a:prstGeom>
          <a:solidFill>
            <a:srgbClr val="F7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Bef>
                <a:spcPts val="0"/>
              </a:spcBef>
              <a:defRPr sz="1700" b="1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CTO behaviour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25 clashes in 650,000 decisions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589520" y="4114800"/>
            <a:ext cx="4023360" cy="1188720"/>
          </a:xfrm>
          <a:prstGeom prst="rect">
            <a:avLst/>
          </a:prstGeom>
          <a:solidFill>
            <a:srgbClr val="DD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Bef>
                <a:spcPts val="0"/>
              </a:spcBef>
              <a:defRPr sz="1700" b="1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Actual bottlenecks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Missing facts · hangs · memory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No explanations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589520" y="53949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700" b="1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Decision: improve the reasoner itself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Gap 1 — Incomplete materialization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0707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Konclude supported consistency checking, classification, and realization.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It did not export the complete inferred ABox or all hierarchy relations.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Our projects need reusable inferred class, object-property, data-property, and same-individual assertions.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Therefore, complete materialization became the first extension.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52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Gap 2 — Reliability problems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3566160" cy="12801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3600" b="1">
                <a:solidFill>
                  <a:srgbClr val="B23A2E"/>
                </a:solidFill>
                <a:latin typeface="Arial"/>
              </a:defRPr>
            </a:pPr>
            <a:r>
              <a:t>54 of 231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random ontologies hung or crashed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89120" y="1280160"/>
            <a:ext cx="3566160" cy="12801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3600" b="1">
                <a:solidFill>
                  <a:srgbClr val="B23A2E"/>
                </a:solidFill>
                <a:latin typeface="Arial"/>
              </a:defRPr>
            </a:pPr>
            <a:r>
              <a:t>61 of 536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test-class members found in the first materialization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138159" y="1280160"/>
            <a:ext cx="3566160" cy="12801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3600" b="1">
                <a:solidFill>
                  <a:srgbClr val="B23A2E"/>
                </a:solidFill>
                <a:latin typeface="Arial"/>
              </a:defRPr>
            </a:pPr>
            <a:r>
              <a:t>1,657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2606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entailed facts found by Openllet but missed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85800" y="3835679"/>
            <a:ext cx="10972800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Baseline failures included hangs or crashes, run-to-run differences, incorrect same-individual pairs, and a missed inconsistency.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Validation used Openllet, 231 random ontologies, InferTest (37 tests), and OWL2Bench DL-1–DL-20.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40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Step 1 — Complete materialization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486400" cy="3639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Added a materialize command that exports the entailed class hierarchy, types, property assertions, and same-individual relations.</a:t>
            </a:r>
            <a:endParaRPr lang="en-US"/>
          </a:p>
          <a:p>
            <a:pPr>
              <a:spcBef>
                <a:spcPts val="420"/>
              </a:spcBef>
              <a:defRPr sz="1400">
                <a:solidFill>
                  <a:srgbClr val="1F5F9B"/>
                </a:solidFill>
                <a:latin typeface="Courier New"/>
              </a:defRPr>
            </a:pPr>
            <a:r>
              <a:rPr lang="en-US" dirty="0"/>
              <a:t>./Konclude materialize -w AUTO -i ontology.owl -o inferred.nt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Fixed blocking correctness bugs; results were confirmed on PMD and MatWerk data.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Finding: complete materialization is practical on moderate inputs, but output size adds time and memory cost on larger ontologies.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This became the next optimization target.</a:t>
            </a:r>
            <a:endParaRPr lang="en-US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675120" y="128016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Facts written: 31 thousand · 50 thousand · 1.44 million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76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Step 2 — Make reasoning understandable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After materialization, the next gap was observability.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Users could not see what was expensive, why an inference held, or why an ontology failed.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Four user-facing tools now cover that workflow: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0080" y="4023360"/>
            <a:ext cx="2651760" cy="1554480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Bef>
                <a:spcPts val="0"/>
              </a:spcBef>
              <a:defRPr sz="1700" b="1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lint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Predict expensive or unsupported constructs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74720" y="4023360"/>
            <a:ext cx="2651760" cy="1554480"/>
          </a:xfrm>
          <a:prstGeom prst="rect">
            <a:avLst/>
          </a:prstGeom>
          <a:solidFill>
            <a:srgbClr val="DD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Bef>
                <a:spcPts val="0"/>
              </a:spcBef>
              <a:defRPr sz="1700" b="1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diagnose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Measure where time and memory go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09360" y="4023360"/>
            <a:ext cx="2651760" cy="1554480"/>
          </a:xfrm>
          <a:prstGeom prst="rect">
            <a:avLst/>
          </a:prstGeom>
          <a:solidFill>
            <a:srgbClr val="F7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Bef>
                <a:spcPts val="0"/>
              </a:spcBef>
              <a:defRPr sz="1700" b="1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explain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Find a minimal justification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144000" y="4023360"/>
            <a:ext cx="2651760" cy="15544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Bef>
                <a:spcPts val="0"/>
              </a:spcBef>
              <a:defRPr sz="1700" b="1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examples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Show readable reasoning chains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7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Lint — Predict expensive constructs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Reads the ontology without running the reasoner.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Warns about expensive or incompletely supported constructs and suggests alternatives.</a:t>
            </a:r>
            <a:endParaRPr lang="en-US"/>
          </a:p>
          <a:p>
            <a:pPr>
              <a:spcBef>
                <a:spcPts val="420"/>
              </a:spcBef>
              <a:defRPr sz="1400">
                <a:solidFill>
                  <a:srgbClr val="1F5F9B"/>
                </a:solidFill>
                <a:latin typeface="Courier New"/>
              </a:defRPr>
            </a:pPr>
            <a:r>
              <a:rPr lang="en-US" dirty="0"/>
              <a:t>./Konclude lint -i ontology.owl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OWL2Bench DL-1 output (2 seconds, abridged)</a:t>
            </a: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10972800" cy="3017520"/>
          </a:xfrm>
          <a:prstGeom prst="roundRect">
            <a:avLst>
              <a:gd name="adj" fmla="val 3000"/>
            </a:avLst>
          </a:prstGeom>
          <a:solidFill>
            <a:srgbClr val="1E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/>
            <a:r>
              <a:rPr sz="1100" dirty="0">
                <a:solidFill>
                  <a:srgbClr val="E6E6E6"/>
                </a:solidFill>
                <a:latin typeface="Consolas"/>
              </a:rPr>
              <a:t>Axioms 54441 | classes 132, object properties 86 | individuals 3677, object property assertions 27794</a:t>
            </a:r>
            <a:endParaRPr lang="en-IN" sz="1100" dirty="0">
              <a:solidFill>
                <a:srgbClr val="E6E6E6"/>
              </a:solidFill>
              <a:latin typeface="Consolas"/>
            </a:endParaRPr>
          </a:p>
          <a:p>
            <a:pPr algn="l"/>
            <a:endParaRPr sz="1100" dirty="0">
              <a:solidFill>
                <a:srgbClr val="E6E6E6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F0C060"/>
                </a:solidFill>
                <a:latin typeface="Consolas"/>
              </a:rPr>
              <a:t>[WARN] Large nominal enumerations</a:t>
            </a:r>
          </a:p>
          <a:p>
            <a:pPr algn="l"/>
            <a:r>
              <a:rPr sz="1100" dirty="0">
                <a:solidFill>
                  <a:srgbClr val="E6E6E6"/>
                </a:solidFill>
                <a:latin typeface="Consolas"/>
              </a:rPr>
              <a:t>       a node that must belong to an enumeration of n individuals is an n-way decision that stays live on the search path</a:t>
            </a:r>
          </a:p>
          <a:p>
            <a:pPr algn="l"/>
            <a:r>
              <a:rPr sz="1100" dirty="0">
                <a:solidFill>
                  <a:srgbClr val="7BD08A"/>
                </a:solidFill>
                <a:latin typeface="Consolas"/>
              </a:rPr>
              <a:t>       Suggestion: use an ordinary class and assert the members as instances      e.g. 28 nominals in Interest</a:t>
            </a:r>
          </a:p>
          <a:p>
            <a:pPr algn="l"/>
            <a:r>
              <a:rPr sz="1100" dirty="0">
                <a:solidFill>
                  <a:srgbClr val="F0C060"/>
                </a:solidFill>
                <a:latin typeface="Consolas"/>
              </a:rPr>
              <a:t>[WARN] Qualified cardinality restrictions</a:t>
            </a:r>
          </a:p>
          <a:p>
            <a:pPr algn="l"/>
            <a:r>
              <a:rPr sz="1100" dirty="0">
                <a:solidFill>
                  <a:srgbClr val="7BD08A"/>
                </a:solidFill>
                <a:latin typeface="Consolas"/>
              </a:rPr>
              <a:t>       Suggestion: an unqualified cardinality is cheaper      e.g. </a:t>
            </a:r>
            <a:r>
              <a:rPr sz="1100" dirty="0" err="1">
                <a:solidFill>
                  <a:srgbClr val="7BD08A"/>
                </a:solidFill>
                <a:latin typeface="Consolas"/>
              </a:rPr>
              <a:t>PeopleWithManyHobbies</a:t>
            </a:r>
            <a:r>
              <a:rPr sz="1100" dirty="0">
                <a:solidFill>
                  <a:srgbClr val="7BD08A"/>
                </a:solidFill>
                <a:latin typeface="Consolas"/>
              </a:rPr>
              <a:t> = Person and (at least 3 </a:t>
            </a:r>
            <a:r>
              <a:rPr sz="1100" dirty="0" err="1">
                <a:solidFill>
                  <a:srgbClr val="7BD08A"/>
                </a:solidFill>
                <a:latin typeface="Consolas"/>
              </a:rPr>
              <a:t>likes.Interest</a:t>
            </a:r>
            <a:r>
              <a:rPr sz="1100" dirty="0">
                <a:solidFill>
                  <a:srgbClr val="7BD08A"/>
                </a:solidFill>
                <a:latin typeface="Consolas"/>
              </a:rPr>
              <a:t>)</a:t>
            </a:r>
          </a:p>
          <a:p>
            <a:pPr algn="l"/>
            <a:r>
              <a:rPr sz="1100" dirty="0">
                <a:solidFill>
                  <a:srgbClr val="F0C060"/>
                </a:solidFill>
                <a:latin typeface="Consolas"/>
              </a:rPr>
              <a:t>[WARN] Wide disjunctions</a:t>
            </a:r>
          </a:p>
          <a:p>
            <a:pPr algn="l"/>
            <a:r>
              <a:rPr sz="1100" dirty="0">
                <a:solidFill>
                  <a:srgbClr val="E6E6E6"/>
                </a:solidFill>
                <a:latin typeface="Consolas"/>
              </a:rPr>
              <a:t>       one task per alternative at every node      e.g. </a:t>
            </a:r>
            <a:r>
              <a:rPr sz="1100" dirty="0" err="1">
                <a:solidFill>
                  <a:srgbClr val="E6E6E6"/>
                </a:solidFill>
                <a:latin typeface="Consolas"/>
              </a:rPr>
              <a:t>DisjointUnion</a:t>
            </a:r>
            <a:r>
              <a:rPr sz="1100" dirty="0">
                <a:solidFill>
                  <a:srgbClr val="E6E6E6"/>
                </a:solidFill>
                <a:latin typeface="Consolas"/>
              </a:rPr>
              <a:t>(Engineering, Aeronautical..., Biomedical..., ...)</a:t>
            </a:r>
          </a:p>
          <a:p>
            <a:pPr algn="l"/>
            <a:r>
              <a:rPr sz="1100" dirty="0">
                <a:solidFill>
                  <a:srgbClr val="F0C060"/>
                </a:solidFill>
                <a:latin typeface="Consolas"/>
              </a:rPr>
              <a:t>[WARN] Transitive and symmetric role '</a:t>
            </a:r>
            <a:r>
              <a:rPr sz="1100" dirty="0" err="1">
                <a:solidFill>
                  <a:srgbClr val="F0C060"/>
                </a:solidFill>
                <a:latin typeface="Consolas"/>
              </a:rPr>
              <a:t>hasSameHomeTownWith</a:t>
            </a:r>
            <a:r>
              <a:rPr sz="1100" dirty="0">
                <a:solidFill>
                  <a:srgbClr val="F0C060"/>
                </a:solidFill>
                <a:latin typeface="Consolas"/>
              </a:rPr>
              <a:t>' with a large ABox</a:t>
            </a:r>
          </a:p>
          <a:p>
            <a:pPr algn="l"/>
            <a:r>
              <a:rPr sz="1100" dirty="0">
                <a:solidFill>
                  <a:srgbClr val="E6E6E6"/>
                </a:solidFill>
                <a:latin typeface="Consolas"/>
              </a:rPr>
              <a:t>       about 1,311,932 role assertions would be materialized</a:t>
            </a:r>
          </a:p>
          <a:p>
            <a:pPr algn="l"/>
            <a:r>
              <a:rPr sz="1100" dirty="0">
                <a:solidFill>
                  <a:srgbClr val="F0C060"/>
                </a:solidFill>
                <a:latin typeface="Consolas"/>
              </a:rPr>
              <a:t>[WARN] </a:t>
            </a:r>
            <a:r>
              <a:rPr sz="1100" dirty="0" err="1">
                <a:solidFill>
                  <a:srgbClr val="F0C060"/>
                </a:solidFill>
                <a:latin typeface="Consolas"/>
              </a:rPr>
              <a:t>hasKey</a:t>
            </a:r>
            <a:r>
              <a:rPr sz="1100" dirty="0">
                <a:solidFill>
                  <a:srgbClr val="F0C060"/>
                </a:solidFill>
                <a:latin typeface="Consolas"/>
              </a:rPr>
              <a:t> is not enforced      Suggestion: check the key in the data before loading</a:t>
            </a:r>
          </a:p>
        </p:txBody>
      </p:sp>
    </p:spTree>
    <p:extLst>
      <p:ext uri="{BB962C8B-B14F-4D97-AF65-F5344CB8AC3E}">
        <p14:creationId xmlns:p14="http://schemas.microsoft.com/office/powerpoint/2010/main" val="90780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Diagnose — Measure the actual cost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Lint predicts; diagnose measures time, memory, and branching down to the responsible concept expression—even when a run does not finish.</a:t>
            </a:r>
            <a:endParaRPr lang="en-US"/>
          </a:p>
          <a:p>
            <a:pPr>
              <a:spcBef>
                <a:spcPts val="420"/>
              </a:spcBef>
              <a:defRPr sz="1400">
                <a:solidFill>
                  <a:srgbClr val="1F5F9B"/>
                </a:solidFill>
                <a:latin typeface="Courier New"/>
              </a:defRPr>
            </a:pPr>
            <a:r>
              <a:rPr lang="en-US" dirty="0"/>
              <a:t>python3 tools/konclude_diagnose.py Konclude DL-1.ofn --task consistency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6766560" cy="3200400"/>
          </a:xfrm>
          <a:prstGeom prst="roundRect">
            <a:avLst>
              <a:gd name="adj" fmla="val 3000"/>
            </a:avLst>
          </a:prstGeom>
          <a:solidFill>
            <a:srgbClr val="1E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/>
            <a:r>
              <a:rPr sz="1100">
                <a:solidFill>
                  <a:srgbClr val="7BD08A"/>
                </a:solidFill>
                <a:latin typeface="Consolas"/>
              </a:rPr>
              <a:t>Result: finished; 10.8 s; peak memory 1719 MB.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Stages of the run: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0.6 s  preprocessing                        112 MB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0.8 s  precomputing (consistency)           131 MB   (+1620 MB)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10.5 s  verdict                             1752 MB</a:t>
            </a:r>
          </a:p>
          <a:p>
            <a:pPr algn="l"/>
            <a:r>
              <a:rPr sz="1100">
                <a:solidFill>
                  <a:srgbClr val="F0C060"/>
                </a:solidFill>
                <a:latin typeface="Consolas"/>
              </a:rPr>
              <a:t>What the tableau worked on (share of new branches):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57%  462,840  a choice among 28 enumerated individuals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32%  262,515  a choice among 10 alternatives (a DisjointUnion)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9%   71,595  a choice among 5 alternatives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0%    3,945  a disjunction (2 alternatives)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514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2222"/>
                </a:solidFill>
                <a:latin typeface="Arial"/>
              </a:defRPr>
            </a:pPr>
            <a:r>
              <a:t>Share of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2926080"/>
            <a:ext cx="3840480" cy="502920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174A78"/>
                </a:solidFill>
                <a:latin typeface="Arial"/>
              </a:defRPr>
            </a:pPr>
            <a:r>
              <a:t>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3429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Arial"/>
              </a:defRPr>
            </a:pPr>
            <a:r>
              <a:t>28 listed interests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3794760"/>
            <a:ext cx="2156058" cy="502920"/>
          </a:xfrm>
          <a:prstGeom prst="rect">
            <a:avLst/>
          </a:prstGeom>
          <a:solidFill>
            <a:srgbClr val="F7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6B4900"/>
                </a:solidFill>
                <a:latin typeface="Arial"/>
              </a:defRPr>
            </a:pPr>
            <a:r>
              <a:t>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297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Arial"/>
              </a:defRPr>
            </a:pPr>
            <a:r>
              <a:t>10-way DisjointUnion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4663440"/>
            <a:ext cx="606391" cy="5029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333333"/>
                </a:solidFill>
                <a:latin typeface="Arial"/>
              </a:defRPr>
            </a:pPr>
            <a:r>
              <a:t>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16635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Arial"/>
              </a:defRPr>
            </a:pPr>
            <a:r>
              <a:t>5-way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5577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The measurement confirms the lint warning.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36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Explain — Minimal reasons for results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Returns a minimal set of axioms that makes the ontology inconsistent or entails a requested statement.</a:t>
            </a:r>
            <a:endParaRPr lang="en-US"/>
          </a:p>
          <a:p>
            <a:pPr>
              <a:spcBef>
                <a:spcPts val="420"/>
              </a:spcBef>
              <a:defRPr sz="1400">
                <a:solidFill>
                  <a:srgbClr val="1F5F9B"/>
                </a:solidFill>
                <a:latin typeface="Courier New"/>
              </a:defRPr>
            </a:pPr>
            <a:r>
              <a:rPr lang="en-US" dirty="0"/>
              <a:t>./Konclude explain -i ontology.owl</a:t>
            </a:r>
            <a:endParaRPr lang="en-US"/>
          </a:p>
          <a:p>
            <a:pPr>
              <a:spcBef>
                <a:spcPts val="420"/>
              </a:spcBef>
              <a:defRPr sz="1400">
                <a:solidFill>
                  <a:srgbClr val="1F5F9B"/>
                </a:solidFill>
                <a:latin typeface="Courier New"/>
              </a:defRPr>
            </a:pPr>
            <a:r>
              <a:rPr lang="en-US" dirty="0"/>
              <a:t>./Konclude explain -i ontology.owl --type "&lt;individual&gt;" "&lt;class&gt;"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1. Why is the modified DL-1 inconsistent? (11 s)</a:t>
            </a: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E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/>
            <a:r>
              <a:rPr sz="1200">
                <a:solidFill>
                  <a:srgbClr val="7BD08A"/>
                </a:solidFill>
                <a:latin typeface="Consolas"/>
              </a:rPr>
              <a:t>The ontology is inconsistent because of</a:t>
            </a:r>
          </a:p>
          <a:p>
            <a:pPr algn="l"/>
            <a:r>
              <a:rPr sz="1200">
                <a:solidFill>
                  <a:srgbClr val="7BD08A"/>
                </a:solidFill>
                <a:latin typeface="Consolas"/>
              </a:rPr>
              <a:t>these 3 axioms (minimal; 84 calls):</a:t>
            </a:r>
          </a:p>
          <a:p>
            <a:pPr algn="l"/>
            <a:endParaRPr sz="1200">
              <a:solidFill>
                <a:srgbClr val="7BD08A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DisjointClasses(:Man :Woman)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ClassAssertion(:Man :U0C0D0AP0)</a:t>
            </a:r>
          </a:p>
          <a:p>
            <a:pPr algn="l"/>
            <a:r>
              <a:rPr sz="1200">
                <a:solidFill>
                  <a:srgbClr val="F0C060"/>
                </a:solidFill>
                <a:latin typeface="Consolas"/>
              </a:rPr>
              <a:t>ClassAssertion(:Woman :U0C0D0AP0)</a:t>
            </a:r>
          </a:p>
          <a:p>
            <a:pPr algn="l"/>
            <a:endParaRPr sz="1200">
              <a:solidFill>
                <a:srgbClr val="F0C060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9AA5B1"/>
                </a:solidFill>
                <a:latin typeface="Consolas"/>
              </a:rPr>
              <a:t># the amber line is the wrong fact we added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2. Why is this individual a PersonWithManyHobbies? (50 s)</a:t>
            </a:r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309360" y="28346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E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/>
            <a:r>
              <a:rPr sz="1100">
                <a:solidFill>
                  <a:srgbClr val="7BD08A"/>
                </a:solidFill>
                <a:latin typeface="Consolas"/>
              </a:rPr>
              <a:t>The ontology entails the statement because</a:t>
            </a:r>
          </a:p>
          <a:p>
            <a:pPr algn="l"/>
            <a:r>
              <a:rPr sz="1100">
                <a:solidFill>
                  <a:srgbClr val="7BD08A"/>
                </a:solidFill>
                <a:latin typeface="Consolas"/>
              </a:rPr>
              <a:t>of these 8 axioms: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PeopleWithManyHobbies = Person and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(likes at least 3 Interest)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Man SubClassOf Person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Man(U0C0D0AP0)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likes(U0C0D0AP0, BookReading)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likes(U0C0D0AP0, OilPainting)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likes(U0C0D0AP0, RomanticMovie)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Interest = one of {28 interests} + all different</a:t>
            </a:r>
          </a:p>
        </p:txBody>
      </p:sp>
    </p:spTree>
    <p:extLst>
      <p:ext uri="{BB962C8B-B14F-4D97-AF65-F5344CB8AC3E}">
        <p14:creationId xmlns:p14="http://schemas.microsoft.com/office/powerpoint/2010/main" val="3250537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Examples — Human-readable reasoning chains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Finds multi-step inferences and presents them in plain language, optionally for selected classes.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Useful for papers, talks, teaching, and checking that the ontology behaves as intended.</a:t>
            </a:r>
            <a:endParaRPr lang="en-US"/>
          </a:p>
          <a:p>
            <a:pPr>
              <a:spcBef>
                <a:spcPts val="420"/>
              </a:spcBef>
              <a:defRPr sz="1400">
                <a:solidFill>
                  <a:srgbClr val="1F5F9B"/>
                </a:solidFill>
                <a:latin typeface="Courier New"/>
              </a:defRPr>
            </a:pPr>
            <a:r>
              <a:rPr lang="en-US" dirty="0"/>
              <a:t>python3 tools/konclude_examples.py Konclude DL-1.ofn --classes PeopleWithManyHobbies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0972800" cy="2926080"/>
          </a:xfrm>
          <a:prstGeom prst="roundRect">
            <a:avLst>
              <a:gd name="adj" fmla="val 3000"/>
            </a:avLst>
          </a:prstGeom>
          <a:solidFill>
            <a:srgbClr val="1E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/>
            <a:r>
              <a:rPr sz="1200">
                <a:solidFill>
                  <a:srgbClr val="7BD08A"/>
                </a:solidFill>
                <a:latin typeface="Consolas"/>
              </a:rPr>
              <a:t>Example 1: U0WC0D3L6 is a person with many hobbies.</a:t>
            </a:r>
          </a:p>
          <a:p>
            <a:pPr algn="l"/>
            <a:r>
              <a:rPr sz="1200">
                <a:solidFill>
                  <a:srgbClr val="9AA5B1"/>
                </a:solidFill>
                <a:latin typeface="Consolas"/>
              </a:rPr>
              <a:t>8 axioms; kinds: cardinality, definition, enumeration, fact about a pair, property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1. 'loves' implies 'likes'.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2. Anything that loves something is a person.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3. An interest is defined as: one of {AbstractPainting, ActionMovie, ArticleReading, ...}.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4. A person with many hobbies is defined as: person and something that likes at least 3 interest.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5. U0WC0D3L6 likes DocumentaryMovie.   6. U0WC0D3L6 likes OilPainting.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7. U0WC0D3L6 loves RockAndRollMusic.   8. all these interests are different individuals.</a:t>
            </a:r>
          </a:p>
          <a:p>
            <a:pPr algn="l"/>
            <a:r>
              <a:rPr sz="1200">
                <a:solidFill>
                  <a:srgbClr val="9AA5B1"/>
                </a:solidFill>
                <a:latin typeface="Consolas"/>
              </a:rPr>
              <a:t># every line comes with the original axiom; every set is minimal</a:t>
            </a:r>
          </a:p>
        </p:txBody>
      </p:sp>
    </p:spTree>
    <p:extLst>
      <p:ext uri="{BB962C8B-B14F-4D97-AF65-F5344CB8AC3E}">
        <p14:creationId xmlns:p14="http://schemas.microsoft.com/office/powerpoint/2010/main" val="116302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Step 3 — Locate the memory bottleneck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271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Initial question: was memory dominated by ordinary disjunction search?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Finding: input order can change runtime dramatically (DL-5: 41–517 s), but several constructs consistently dominate the work.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Repeated causes across experiments:</a:t>
            </a:r>
            <a:endParaRPr lang="en-US"/>
          </a:p>
          <a:p>
            <a:pPr marL="360000">
              <a:spcBef>
                <a:spcPts val="420"/>
              </a:spcBef>
              <a:defRPr sz="15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  1. input order;</a:t>
            </a:r>
            <a:endParaRPr lang="en-US"/>
          </a:p>
          <a:p>
            <a:pPr marL="360000">
              <a:spcBef>
                <a:spcPts val="420"/>
              </a:spcBef>
              <a:defRPr sz="15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  2. “at least 3 hobbies” creating unnecessary nodes;</a:t>
            </a:r>
            <a:endParaRPr lang="en-US"/>
          </a:p>
          <a:p>
            <a:pPr marL="360000">
              <a:spcBef>
                <a:spcPts val="420"/>
              </a:spcBef>
              <a:defRPr sz="15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  3. the nominal enumeration Interest ≡ {i₁, …, i₂₈};</a:t>
            </a:r>
            <a:endParaRPr lang="en-US"/>
          </a:p>
          <a:p>
            <a:pPr marL="360000">
              <a:spcBef>
                <a:spcPts val="420"/>
              </a:spcBef>
              <a:defRPr sz="15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  4. wide covering choices introduced by DisjointUnion.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73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Fix 1 — Reuse existing cardinality witnesses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Cause: the “at least 3 hobbies” restriction created fresh anonymous nodes even when three suitable fillers already existed in the ABox.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Fix: count existing fillers first; create new witnesses only when necessary.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Runtime safeguards now choose workers automatically and restart a run when it reaches the memory limit.</a:t>
            </a:r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65836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Consistency check, 1 worker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Earlier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Now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DL-1 (50 thousand facts)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34 s, 3.5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7 s, 1.8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DL-2 (99 thousand)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no answer in 900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26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DL-5 (325 thousand)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no answer, out of 12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31 s, 2.1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DL-10 (711 thousand)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no answer, out of 12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80 s, 3.3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DL-20 (1.4 million)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no answer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169 s, 5.4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79" y="210312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Still open: complete materialization of the largest inputs exceeds 12 GB of memory.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52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Nominals create persistent equality branches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Example: Interest ≡ {Reading, Painting, Music, …} with 28 named individuals.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If a tableau node x must be an Interest, it must test:</a:t>
            </a:r>
            <a:endParaRPr lang="en-US"/>
          </a:p>
          <a:p>
            <a:pPr marL="360000">
              <a:spcBef>
                <a:spcPts val="420"/>
              </a:spcBef>
              <a:defRPr sz="15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  x = Reading ∨ x = Painting ∨ x = Music ∨ …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This creates a 28-way branch that remains live until alternatives are eliminated.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Measured impact: 57% of branches on DL-1 and 80% on DL-5 realization.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Konclude’s failure cache currently excludes nominal nodes, so repeated work is not reused.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76656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Share of branches measured by diagnose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66560" y="1645920"/>
            <a:ext cx="4754880" cy="502920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174A78"/>
                </a:solidFill>
                <a:latin typeface="Arial"/>
              </a:defRPr>
            </a:pPr>
            <a: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Arial"/>
              </a:defRPr>
            </a:pPr>
            <a:r>
              <a:t>DL-5: 28 listed interests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606040"/>
            <a:ext cx="3387852" cy="502920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174A78"/>
                </a:solidFill>
                <a:latin typeface="Arial"/>
              </a:defRPr>
            </a:pPr>
            <a:r>
              <a:t>57%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Arial"/>
              </a:defRPr>
            </a:pPr>
            <a:r>
              <a:t>DL-1: 28 listed interests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3566160"/>
            <a:ext cx="1901952" cy="502920"/>
          </a:xfrm>
          <a:prstGeom prst="rect">
            <a:avLst/>
          </a:prstGeom>
          <a:solidFill>
            <a:srgbClr val="F7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222222"/>
                </a:solidFill>
                <a:latin typeface="Arial"/>
              </a:defRPr>
            </a:pPr>
            <a:r>
              <a:t>32%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Arial"/>
              </a:defRPr>
            </a:pPr>
            <a:r>
              <a:t>DL-1: 10-way DisjointUnion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Input order still matters (DL-5: 41–517 s); order optimization remains future work.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50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Fix 2 — Move closed-list validation outside DL reasoning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Before: Interest ≡ {i₁, …, i₂₈} forces a 28-way equality choice.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After: use an ordinary class and assert Interest(i₁), …, Interest(i₂₈).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Enforce “only these values” separately with a SHACL-style allowed-values constraint.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Semantics checked for this workload: 30,749 inferred types and 537 PersonWithManyHobbies instances remained identical.</a:t>
            </a:r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108960"/>
          <a:ext cx="64008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Consistency check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Closed list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Ordinary class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DL-1: time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12.1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2.4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DL-1: memory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1,716 MB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1,053 MB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DL-5: time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45.4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13.6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DL-5: memory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2,081 MB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2,048 MB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498079" y="3200400"/>
            <a:ext cx="4114800" cy="1188720"/>
          </a:xfrm>
          <a:prstGeom prst="rect">
            <a:avLst/>
          </a:prstGeom>
          <a:solidFill>
            <a:srgbClr val="DD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Bef>
                <a:spcPts val="0"/>
              </a:spcBef>
              <a:defRPr sz="1700" b="1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Consistency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5× faster on DL-1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3.3× faster on DL-5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498079" y="4572000"/>
            <a:ext cx="4114800" cy="1188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Bef>
                <a:spcPts val="0"/>
              </a:spcBef>
              <a:defRPr sz="1700" b="1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Materialization on DL-1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102 s → 82 s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The remaining cost was elsewhere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08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Fix 3 — Remove unnecessary covering choices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Before: DisjointUnion(W, A, B, C, …) says the parts are disjoint and every W belongs to one part.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After: keep A, B, C, … as disjoint subclasses of W; validate the covering requirement separately when needed.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This removes the 10-way choice while preserving the inferred facts required by the workload.</a:t>
            </a:r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108960"/>
          <a:ext cx="73152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Materialize all types, DL-1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82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38.9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Peak memory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1,517 MB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1,303 MB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Type facts written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30,749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30,749 (identical)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Members of the hobbies class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537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537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0" y="3200400"/>
            <a:ext cx="3200400" cy="1371600"/>
          </a:xfrm>
          <a:prstGeom prst="rect">
            <a:avLst/>
          </a:prstGeom>
          <a:solidFill>
            <a:srgbClr val="DD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spcBef>
                <a:spcPts val="0"/>
              </a:spcBef>
              <a:defRPr sz="1700" b="1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Materialization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2.1× faster from this fix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2.6× faster overall</a:t>
            </a:r>
            <a:endParaRPr lang="en-US"/>
          </a:p>
          <a:p>
            <a:pPr algn="ctr">
              <a:spcBef>
                <a:spcPts val="260"/>
              </a:spcBef>
              <a:defRPr sz="14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Same required facts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412480" y="4754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DL-5 evaluation is still pending.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83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Performance — Baseline vs. optimized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 worker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Original Konclude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 hobbies rule fixed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 closed list out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 unions out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Consistency, DL-1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34 s, 3.5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7 s, 1.8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2.4 s, 1.1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Consistency, DL-5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no answer (12 GB)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31 s, 2.1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13.6 s, 2.0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Materialize types, DL-1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could not write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101.7 s, 1.9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82.0 s, 1.5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38.9 s, 1.3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Materialize types, DL-5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could not write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stopped at 9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stopped at 9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not yet tested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All fixes preserved the checked results: 30,749 DL-1 type assertions and 537 PersonWithManyHobbies instances.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Runs were performed at different times on one laptop. Diagnose adds monitoring overhead, so individual values vary slightly.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1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Where the runtime goes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 worker, diagnose runs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DL-1 at first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DL-1 after the fixes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DL-5 now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Consistency and saturation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10.8 s, 1.7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2.4 s, 1.1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43.7 s, 2.0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Class tree (classification)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155 s, 2.6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Types of all individuals (realization)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89 s of the 102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stopped at 9 GB after 374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Whole materialization of the types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101.7 s, 1.9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38.9 s, 1.3 GB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does not finish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Facts written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30,749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30,749 (identical)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On DL-1, realization accounts for 89 of 102 seconds. Results are single runs on one laptop with a 9 GB limit; DL-5 varies by run.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8640" y="55321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Materialization runs consistency, classification, and realization in sequence; writing the output takes only the final few seconds.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16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Remaining bottleneck — DL-5 realization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766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Realization over 23,000 individuals jumps from 2.6 GB to the 9 GB limit within one minute: a memory cliff.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At the last diagnostic sample, branching came mainly from:</a:t>
            </a:r>
            <a:endParaRPr lang="en-US"/>
          </a:p>
          <a:p>
            <a:pPr marL="360000">
              <a:spcBef>
                <a:spcPts val="420"/>
              </a:spcBef>
              <a:defRPr sz="15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  – 80%: the 28-way nominal choice;</a:t>
            </a:r>
            <a:endParaRPr lang="en-US"/>
          </a:p>
          <a:p>
            <a:pPr marL="360000">
              <a:spcBef>
                <a:spcPts val="420"/>
              </a:spcBef>
              <a:defRPr sz="15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  – 15%: a 10-way engineering DisjointUnion;</a:t>
            </a:r>
            <a:endParaRPr lang="en-US"/>
          </a:p>
          <a:p>
            <a:pPr marL="360000">
              <a:spcBef>
                <a:spcPts val="420"/>
              </a:spcBef>
              <a:defRPr sz="155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  – 4%: a 5-way college choice.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Removing only the closed list did not avoid the limit; the covering fix still needs DL-5 evaluation.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Next: identify what is retained per individual and target that structure.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589520" y="1280160"/>
            <a:ext cx="4206240" cy="3931920"/>
          </a:xfrm>
          <a:prstGeom prst="roundRect">
            <a:avLst>
              <a:gd name="adj" fmla="val 3000"/>
            </a:avLst>
          </a:prstGeom>
          <a:solidFill>
            <a:srgbClr val="1E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/>
            <a:r>
              <a:rPr sz="1100">
                <a:solidFill>
                  <a:srgbClr val="F0C060"/>
                </a:solidFill>
                <a:latin typeface="Consolas"/>
              </a:rPr>
              <a:t>DL-5 realization, limit 9000 MB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36 s  precomputing done   1.6 GB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354 s  realization starts  2.6 GB</a:t>
            </a:r>
          </a:p>
          <a:p>
            <a:pPr algn="l"/>
            <a:r>
              <a:rPr sz="1100">
                <a:solidFill>
                  <a:srgbClr val="F0C060"/>
                </a:solidFill>
                <a:latin typeface="Consolas"/>
              </a:rPr>
              <a:t> 411 s  STOPPED             9.0 GB</a:t>
            </a:r>
          </a:p>
          <a:p>
            <a:pPr algn="l"/>
            <a:endParaRPr sz="1100">
              <a:solidFill>
                <a:srgbClr val="F0C060"/>
              </a:solidFill>
              <a:latin typeface="Consolas"/>
            </a:endParaRP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top share of new branches: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80%  choice among 28 individuals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15%  choice among 10 (union)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4%  choice among 5 (union)</a:t>
            </a:r>
          </a:p>
        </p:txBody>
      </p:sp>
    </p:spTree>
    <p:extLst>
      <p:ext uri="{BB962C8B-B14F-4D97-AF65-F5344CB8AC3E}">
        <p14:creationId xmlns:p14="http://schemas.microsoft.com/office/powerpoint/2010/main" val="3740157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Next — Incremental reasoning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Konclude can apply Tell and Retract updates without reloading the ontology; we fixed bugs and added 18 tests.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A small example updates and answers a query in 5 ms with identical results.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Remaining question: which real facts change, how often, and which inferred types must be recomputed?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286000" cy="1005840"/>
          </a:xfrm>
          <a:prstGeom prst="round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174A78"/>
                </a:solidFill>
                <a:latin typeface="Arial"/>
              </a:defRPr>
            </a:pPr>
            <a:r>
              <a:t>Load the</a:t>
            </a:r>
            <a:br/>
            <a:r>
              <a:t>ontology once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71800" y="2788920"/>
            <a:ext cx="457200" cy="36576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20439" y="2468880"/>
            <a:ext cx="2286000" cy="1005840"/>
          </a:xfrm>
          <a:prstGeom prst="roundRect">
            <a:avLst/>
          </a:prstGeom>
          <a:solidFill>
            <a:srgbClr val="F7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222222"/>
                </a:solidFill>
                <a:latin typeface="Arial"/>
              </a:defRPr>
            </a:pPr>
            <a:r>
              <a:t>Tell / Retract</a:t>
            </a:r>
            <a:br/>
            <a:r>
              <a:t>only the change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59" y="2788920"/>
            <a:ext cx="457200" cy="36576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2286000" cy="1005840"/>
          </a:xfrm>
          <a:prstGeom prst="roundRect">
            <a:avLst/>
          </a:prstGeom>
          <a:solidFill>
            <a:srgbClr val="DD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1F5A2A"/>
                </a:solidFill>
                <a:latin typeface="Arial"/>
              </a:defRPr>
            </a:pPr>
            <a:r>
              <a:t>Konclude updates</a:t>
            </a:r>
            <a:br/>
            <a:r>
              <a:t>its answers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32520" y="2788920"/>
            <a:ext cx="457200" cy="36576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0">
                <a:solidFill>
                  <a:srgbClr val="333333"/>
                </a:solidFill>
                <a:latin typeface="Arial"/>
              </a:defRPr>
            </a:pPr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281159" y="2468880"/>
            <a:ext cx="2286000" cy="1005840"/>
          </a:xfrm>
          <a:prstGeom prst="round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174A78"/>
                </a:solidFill>
                <a:latin typeface="Arial"/>
              </a:defRPr>
            </a:pPr>
            <a:r>
              <a:t>Ask: answer in</a:t>
            </a:r>
            <a:br/>
            <a:r>
              <a:t>fractions of a second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6583680" cy="2011680"/>
          </a:xfrm>
          <a:prstGeom prst="roundRect">
            <a:avLst>
              <a:gd name="adj" fmla="val 3000"/>
            </a:avLst>
          </a:prstGeom>
          <a:solidFill>
            <a:srgbClr val="1E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/>
            <a:r>
              <a:rPr sz="1100">
                <a:solidFill>
                  <a:srgbClr val="7BD08A"/>
                </a:solidFill>
                <a:latin typeface="Consolas"/>
              </a:rPr>
              <a:t>$ Konclude owllinkserver -p 8080 -w 1 -c incremental-on.xml &amp;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$ curl -X POST --data '&lt;Tell&gt;  ClassAssertion(Manager Alice)  &lt;/Tell&gt;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  &lt;GetFlattenedInstances&gt; Employee &lt;/GetFlattenedInstances&gt;' :8080</a:t>
            </a:r>
          </a:p>
          <a:p>
            <a:pPr algn="l"/>
            <a:r>
              <a:rPr sz="1100">
                <a:solidFill>
                  <a:srgbClr val="F0C060"/>
                </a:solidFill>
                <a:latin typeface="Consolas"/>
              </a:rPr>
              <a:t>&lt;SetOfIndividuals&gt; &lt;NamedIndividual IRI="...#Alice"/&gt; &lt;/SetOfIndividuals&gt;</a:t>
            </a:r>
          </a:p>
          <a:p>
            <a:pPr algn="l"/>
            <a:r>
              <a:rPr sz="1100">
                <a:solidFill>
                  <a:srgbClr val="9AA5B1"/>
                </a:solidFill>
                <a:latin typeface="Consolas"/>
              </a:rPr>
              <a:t># Alice is an employee although nobody said so</a:t>
            </a:r>
          </a:p>
          <a:p>
            <a:pPr algn="l"/>
            <a:r>
              <a:rPr sz="1100">
                <a:solidFill>
                  <a:srgbClr val="9AA5B1"/>
                </a:solidFill>
                <a:latin typeface="Consolas"/>
              </a:rPr>
              <a:t># 5 ms for this change in a small ontology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498079" y="3840480"/>
          <a:ext cx="4297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Real PMD ontology, 12 periods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New process each time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Live mode</a:t>
                      </a:r>
                    </a:p>
                  </a:txBody>
                  <a:tcPr>
                    <a:solidFill>
                      <a:srgbClr val="1F5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Facts only added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200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22.8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Facts also removed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23A2E"/>
                          </a:solidFill>
                          <a:latin typeface="Arial"/>
                        </a:defRPr>
                      </a:pPr>
                      <a:r>
                        <a:t>127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25.5 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498079" y="56692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rial"/>
              </a:defRPr>
            </a:pPr>
            <a:r>
              <a:t>Answers identical in both ways</a:t>
            </a:r>
          </a:p>
        </p:txBody>
      </p:sp>
    </p:spTree>
    <p:extLst>
      <p:ext uri="{BB962C8B-B14F-4D97-AF65-F5344CB8AC3E}">
        <p14:creationId xmlns:p14="http://schemas.microsoft.com/office/powerpoint/2010/main" val="1820622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Next — Temporal reasoning layer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Add a temporal layer above Konclude while preserving expressive OWL 2 DL reasoning inside each state.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Represent maximal periods during which the asserted facts do not change.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For each period, Konclude computes the consequences; the temporal layer orders periods and answers time-indexed queries.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Prototype on synthetic PMD timelines: live mode was 8.8× faster with identical answers.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Open questions: measurements and events, time granularity, scale, and real timestamped data.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35040" y="1188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Idea: maximal periods in which asserted facts remain unchanged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35040" y="1828800"/>
            <a:ext cx="2221992" cy="777240"/>
          </a:xfrm>
          <a:prstGeom prst="rect">
            <a:avLst/>
          </a:prstGeom>
          <a:solidFill>
            <a:srgbClr val="D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174A78"/>
                </a:solidFill>
                <a:latin typeface="Arial"/>
              </a:defRPr>
            </a:pPr>
            <a:r>
              <a:t>S0</a:t>
            </a:r>
            <a:br/>
            <a:r>
              <a:t>employee at A</a:t>
            </a:r>
          </a:p>
        </p:txBody>
      </p:sp>
      <p:sp>
        <p:nvSpPr>
          <p:cNvPr id="7" name="Rectangle 6"/>
          <p:cNvSpPr/>
          <p:nvPr/>
        </p:nvSpPr>
        <p:spPr>
          <a:xfrm>
            <a:off x="8302752" y="1828800"/>
            <a:ext cx="2108606" cy="777240"/>
          </a:xfrm>
          <a:prstGeom prst="rect">
            <a:avLst/>
          </a:prstGeom>
          <a:solidFill>
            <a:srgbClr val="DDE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1F5A2A"/>
                </a:solidFill>
                <a:latin typeface="Arial"/>
              </a:defRPr>
            </a:pPr>
            <a:r>
              <a:t>S1</a:t>
            </a:r>
            <a:br/>
            <a:r>
              <a:t>employee at B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57078" y="1828800"/>
            <a:ext cx="1201521" cy="777240"/>
          </a:xfrm>
          <a:prstGeom prst="rect">
            <a:avLst/>
          </a:prstGeom>
          <a:solidFill>
            <a:srgbClr val="F7E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222222"/>
                </a:solidFill>
                <a:latin typeface="Arial"/>
              </a:defRPr>
            </a:pPr>
            <a:r>
              <a:t>S2</a:t>
            </a:r>
            <a:br/>
            <a:r>
              <a:t>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697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Arial"/>
              </a:defRPr>
            </a:pPr>
            <a:r>
              <a:t>time  →   (a new period starts whenever a fact starts or ends)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246120"/>
            <a:ext cx="5669280" cy="2560320"/>
          </a:xfrm>
          <a:prstGeom prst="roundRect">
            <a:avLst>
              <a:gd name="adj" fmla="val 3000"/>
            </a:avLst>
          </a:prstGeom>
          <a:solidFill>
            <a:srgbClr val="1E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t"/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each period = the facts true then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+ what follows from them (Konclude)</a:t>
            </a:r>
          </a:p>
          <a:p>
            <a:pPr algn="l"/>
            <a:endParaRPr sz="1200">
              <a:solidFill>
                <a:srgbClr val="E6E6E6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F0C060"/>
                </a:solidFill>
                <a:latin typeface="Consolas"/>
              </a:rPr>
              <a:t>question: "who was chair on 2020-06-01?"</a:t>
            </a:r>
          </a:p>
          <a:p>
            <a:pPr algn="l"/>
            <a:r>
              <a:rPr sz="1200">
                <a:solidFill>
                  <a:srgbClr val="7BD08A"/>
                </a:solidFill>
                <a:latin typeface="Consolas"/>
              </a:rPr>
              <a:t>answer:   U0C0D0FP1</a:t>
            </a:r>
          </a:p>
          <a:p>
            <a:pPr algn="l"/>
            <a:r>
              <a:rPr sz="1200">
                <a:solidFill>
                  <a:srgbClr val="7BD08A"/>
                </a:solidFill>
                <a:latin typeface="Consolas"/>
              </a:rPr>
              <a:t>history:  FP1 chair 2018-09-01 .. 2022-12-31</a:t>
            </a:r>
          </a:p>
          <a:p>
            <a:pPr algn="l"/>
            <a:endParaRPr sz="1200">
              <a:solidFill>
                <a:srgbClr val="7BD08A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9AA5B1"/>
                </a:solidFill>
                <a:latin typeface="Consolas"/>
              </a:rPr>
              <a:t># Konclude never sees a date: a layer on top</a:t>
            </a:r>
          </a:p>
          <a:p>
            <a:pPr algn="l"/>
            <a:r>
              <a:rPr sz="1200">
                <a:solidFill>
                  <a:srgbClr val="9AA5B1"/>
                </a:solidFill>
                <a:latin typeface="Consolas"/>
              </a:rPr>
              <a:t># keeps the periods in order</a:t>
            </a:r>
          </a:p>
        </p:txBody>
      </p:sp>
    </p:spTree>
    <p:extLst>
      <p:ext uri="{BB962C8B-B14F-4D97-AF65-F5344CB8AC3E}">
        <p14:creationId xmlns:p14="http://schemas.microsoft.com/office/powerpoint/2010/main" val="2435744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Planned — Controlled approximate reasoning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Let users explicitly choose which expensive construct types may be simplified.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Report every transformation and whether answers may be missing or additional.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Candidate transformations come from the constructs already identified by lint.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2222"/>
                </a:solidFill>
                <a:latin typeface="Arial"/>
              </a:defRPr>
            </a:pPr>
            <a:r>
              <a:t>Constructs the user may compromise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2222"/>
                </a:solidFill>
                <a:latin typeface="Arial"/>
              </a:defRPr>
            </a:pPr>
            <a:r>
              <a:t>What would be done instead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600" b="1">
                <a:solidFill>
                  <a:srgbClr val="1F5F9B"/>
                </a:solidFill>
                <a:latin typeface="Arial"/>
              </a:defRPr>
            </a:pPr>
            <a:r>
              <a:t>☐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291840"/>
            <a:ext cx="521208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0">
                <a:solidFill>
                  <a:srgbClr val="222222"/>
                </a:solidFill>
                <a:latin typeface="Arial"/>
              </a:defRPr>
            </a:pPr>
            <a:r>
              <a:t>Enumerations of individuals (nominals)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291840"/>
            <a:ext cx="530352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0">
                <a:solidFill>
                  <a:srgbClr val="666666"/>
                </a:solidFill>
                <a:latin typeface="Arial"/>
              </a:defRPr>
            </a:pPr>
            <a:r>
              <a:t>treat as an ordinary 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58768"/>
            <a:ext cx="41148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600" b="1">
                <a:solidFill>
                  <a:srgbClr val="1F5F9B"/>
                </a:solidFill>
                <a:latin typeface="Arial"/>
              </a:defRPr>
            </a:pPr>
            <a:r>
              <a:t>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3858768"/>
            <a:ext cx="521208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0">
                <a:solidFill>
                  <a:srgbClr val="222222"/>
                </a:solidFill>
                <a:latin typeface="Arial"/>
              </a:defRPr>
            </a:pPr>
            <a:r>
              <a:t>Qualified number restrictions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858768"/>
            <a:ext cx="530352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0">
                <a:solidFill>
                  <a:srgbClr val="666666"/>
                </a:solidFill>
                <a:latin typeface="Arial"/>
              </a:defRPr>
            </a:pPr>
            <a:r>
              <a:t>use the unqualified 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25696"/>
            <a:ext cx="41148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600" b="1">
                <a:solidFill>
                  <a:srgbClr val="1F5F9B"/>
                </a:solidFill>
                <a:latin typeface="Arial"/>
              </a:defRPr>
            </a:pPr>
            <a:r>
              <a:t>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425696"/>
            <a:ext cx="521208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0">
                <a:solidFill>
                  <a:srgbClr val="222222"/>
                </a:solidFill>
                <a:latin typeface="Arial"/>
              </a:defRPr>
            </a:pPr>
            <a:r>
              <a:t>Wide disjunctions / DisjointUnion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425696"/>
            <a:ext cx="530352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0">
                <a:solidFill>
                  <a:srgbClr val="666666"/>
                </a:solidFill>
                <a:latin typeface="Arial"/>
              </a:defRPr>
            </a:pPr>
            <a:r>
              <a:t>drop the covering part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92624"/>
            <a:ext cx="41148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600" b="1">
                <a:solidFill>
                  <a:srgbClr val="1F5F9B"/>
                </a:solidFill>
                <a:latin typeface="Arial"/>
              </a:defRPr>
            </a:pPr>
            <a:r>
              <a:t>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4992624"/>
            <a:ext cx="521208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0">
                <a:solidFill>
                  <a:srgbClr val="222222"/>
                </a:solidFill>
                <a:latin typeface="Arial"/>
              </a:defRPr>
            </a:pPr>
            <a:r>
              <a:t>Inverse-functional roles on a large ABox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992624"/>
            <a:ext cx="530352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0">
                <a:solidFill>
                  <a:srgbClr val="666666"/>
                </a:solidFill>
                <a:latin typeface="Arial"/>
              </a:defRPr>
            </a:pPr>
            <a:r>
              <a:t>do not merge individuals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559552"/>
            <a:ext cx="41148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600" b="1">
                <a:solidFill>
                  <a:srgbClr val="1F5F9B"/>
                </a:solidFill>
                <a:latin typeface="Arial"/>
              </a:defRPr>
            </a:pPr>
            <a: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559552"/>
            <a:ext cx="521208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0">
                <a:solidFill>
                  <a:srgbClr val="222222"/>
                </a:solidFill>
                <a:latin typeface="Arial"/>
              </a:defRPr>
            </a:pPr>
            <a:r>
              <a:t>Large transitive roles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559552"/>
            <a:ext cx="5303520" cy="4114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0">
                <a:solidFill>
                  <a:srgbClr val="666666"/>
                </a:solidFill>
                <a:latin typeface="Arial"/>
              </a:defRPr>
            </a:pPr>
            <a:r>
              <a:t>do not write the full 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>
                <a:solidFill>
                  <a:srgbClr val="555555"/>
                </a:solidFill>
                <a:latin typeface="Arial"/>
              </a:defRPr>
            </a:pPr>
            <a:r>
              <a:rPr lang="en-US" dirty="0"/>
              <a:t>Status: planned, not yet implemented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43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9B"/>
                </a:solidFill>
                <a:latin typeface="Arial"/>
              </a:defRPr>
            </a:pPr>
            <a:r>
              <a:rPr lang="en-US" dirty="0"/>
              <a:t>Practical guidance for ontology developers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Use ordinary classes for large closed lists of individuals; enforce allowed values separately with SHACL when appropriate.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Replace unnecessary DisjointUnion covering axioms with disjoint subclasses; validate coverage outside the reasoner when needed.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Run lint before reasoning, diagnose when performance degrades, and explain when a result is surprising.</a:t>
            </a:r>
            <a:endParaRPr lang="en-US"/>
          </a:p>
          <a:p>
            <a:pPr>
              <a:spcBef>
                <a:spcPts val="420"/>
              </a:spcBef>
              <a:defRPr sz="1700">
                <a:solidFill>
                  <a:srgbClr val="222222"/>
                </a:solidFill>
                <a:latin typeface="Arial"/>
              </a:defRPr>
            </a:pPr>
            <a:r>
              <a:rPr lang="en-US" dirty="0"/>
              <a:t>• Capture these patterns in shared guidelines and tools so each project does not rediscover them.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71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2CB602-2552-4475-AE36-43A22DF506B6}">
  <we:reference id="wa200010215" version="2.0.0.1" store="en-US" storeType="OMEX"/>
  <we:alternateReferences>
    <we:reference id="WA200010215" version="2.0.0.1" store="WA200010215" storeType="OMEX"/>
  </we:alternateReferences>
  <we:properties>
    <we:property name="bps.codex_control.document_id" value="&quot;e599b7e6-140a-4d3b-acd8-becd216cd26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2833</Words>
  <Application>Microsoft Office PowerPoint</Application>
  <PresentationFormat>Widescreen</PresentationFormat>
  <Paragraphs>368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Gunjan Singh</cp:lastModifiedBy>
  <cp:revision>3</cp:revision>
  <dcterms:created xsi:type="dcterms:W3CDTF">2013-01-27T09:14:16Z</dcterms:created>
  <dcterms:modified xsi:type="dcterms:W3CDTF">2026-10-13T10:41:17Z</dcterms:modified>
  <cp:category/>
</cp:coreProperties>
</file>